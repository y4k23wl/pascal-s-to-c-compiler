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buSzTx/>
              <a:buNone/>
              <a:defRPr b="1" sz="5500"/>
            </a:lvl1pPr>
            <a:lvl2pPr marL="0" indent="457200" defTabSz="825500">
              <a:buSzTx/>
              <a:buNone/>
              <a:defRPr b="1" sz="5500"/>
            </a:lvl2pPr>
            <a:lvl3pPr marL="0" indent="914400" defTabSz="825500">
              <a:buSzTx/>
              <a:buNone/>
              <a:defRPr b="1" sz="5500"/>
            </a:lvl3pPr>
            <a:lvl4pPr marL="0" indent="1371600" defTabSz="825500">
              <a:buSzTx/>
              <a:buNone/>
              <a:defRPr b="1" sz="5500"/>
            </a:lvl4pPr>
            <a:lvl5pPr marL="0" indent="1828800" defTabSz="825500"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buSzTx/>
              <a:buNone/>
              <a:defRPr b="1" sz="5500"/>
            </a:lvl1pPr>
            <a:lvl2pPr marL="0" indent="457200" defTabSz="825500">
              <a:buSzTx/>
              <a:buNone/>
              <a:defRPr b="1" sz="5500"/>
            </a:lvl2pPr>
            <a:lvl3pPr marL="0" indent="914400" defTabSz="825500">
              <a:buSzTx/>
              <a:buNone/>
              <a:defRPr b="1" sz="5500"/>
            </a:lvl3pPr>
            <a:lvl4pPr marL="0" indent="1371600" defTabSz="825500">
              <a:buSzTx/>
              <a:buNone/>
              <a:defRPr b="1" sz="5500"/>
            </a:lvl4pPr>
            <a:lvl5pPr marL="0" indent="1828800" defTabSz="825500"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buSzTx/>
              <a:buNone/>
              <a:defRPr b="1" sz="5500"/>
            </a:lvl1pPr>
            <a:lvl2pPr marL="0" indent="457200" defTabSz="825500">
              <a:buSzTx/>
              <a:buNone/>
              <a:defRPr b="1" sz="5500"/>
            </a:lvl2pPr>
            <a:lvl3pPr marL="0" indent="914400" defTabSz="825500">
              <a:buSzTx/>
              <a:buNone/>
              <a:defRPr b="1" sz="5500"/>
            </a:lvl3pPr>
            <a:lvl4pPr marL="0" indent="1371600" defTabSz="825500">
              <a:buSzTx/>
              <a:buNone/>
              <a:defRPr b="1" sz="5500"/>
            </a:lvl4pPr>
            <a:lvl5pPr marL="0" indent="1828800" defTabSz="825500"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lnSpc>
                <a:spcPct val="90000"/>
              </a:lnSpc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lnSpc>
                <a:spcPct val="90000"/>
              </a:lnSpc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lnSpc>
                <a:spcPct val="90000"/>
              </a:lnSpc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lnSpc>
                <a:spcPct val="90000"/>
              </a:lnSpc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lnSpc>
                <a:spcPct val="90000"/>
              </a:lnSpc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026.3.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defRPr sz="3600"/>
            </a:lvl1pPr>
          </a:lstStyle>
          <a:p>
            <a:pPr/>
            <a:r>
              <a:t>2026.3.25</a:t>
            </a:r>
          </a:p>
        </p:txBody>
      </p:sp>
      <p:sp>
        <p:nvSpPr>
          <p:cNvPr id="172" name="阶段性汇报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阶段性汇报</a:t>
            </a:r>
          </a:p>
        </p:txBody>
      </p:sp>
      <p:sp>
        <p:nvSpPr>
          <p:cNvPr id="173" name="4组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751205">
              <a:defRPr sz="5005"/>
            </a:pPr>
            <a:r>
              <a:t>4组</a:t>
            </a:r>
          </a:p>
          <a:p>
            <a:pPr defTabSz="751205">
              <a:defRPr sz="5005"/>
            </a:pPr>
            <a:r>
              <a:t>袁炜途 赵诗雨 胡曙胭 刘宇轩 梁益铭 金培功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技术路线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技术路线</a:t>
            </a:r>
          </a:p>
        </p:txBody>
      </p:sp>
      <p:sp>
        <p:nvSpPr>
          <p:cNvPr id="176" name="幻灯片副标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源语言：Pascal-S（参照课件）…"/>
          <p:cNvSpPr txBox="1"/>
          <p:nvPr>
            <p:ph type="body" idx="1"/>
          </p:nvPr>
        </p:nvSpPr>
        <p:spPr>
          <a:xfrm>
            <a:off x="1206499" y="5820951"/>
            <a:ext cx="21971001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源语言：Pascal-S（参照课件）</a:t>
            </a:r>
          </a:p>
          <a:p>
            <a:pPr marL="0" indent="0">
              <a:buSzTx/>
              <a:buNone/>
            </a:pPr>
            <a:r>
              <a:t>目标语言：C</a:t>
            </a:r>
          </a:p>
          <a:p>
            <a:pPr marL="0" indent="0">
              <a:buSzTx/>
              <a:buNone/>
            </a:pPr>
            <a:r>
              <a:t>词法分析模块：Lex，将源语言转化为token</a:t>
            </a:r>
          </a:p>
          <a:p>
            <a:pPr marL="0" indent="0">
              <a:buSzTx/>
              <a:buNone/>
            </a:pPr>
            <a:r>
              <a:t>语法分析模块：YACC，将token转化为AST</a:t>
            </a:r>
          </a:p>
          <a:p>
            <a:pPr marL="0" indent="0">
              <a:buSzTx/>
              <a:buNone/>
            </a:pPr>
            <a:r>
              <a:t>语义分析与代码生成：C++，输出目标语言</a:t>
            </a:r>
          </a:p>
          <a:p>
            <a:pPr marL="0" indent="0">
              <a:buSzTx/>
              <a:buNone/>
            </a:pPr>
            <a:r>
              <a:t>由于从Pascal-S编译至C，采用抽象语法树作为语法分析产物，不生成四元式代码，而是直接依照AST与符号表生成目标C代码。</a:t>
            </a:r>
          </a:p>
        </p:txBody>
      </p:sp>
      <p:pic>
        <p:nvPicPr>
          <p:cNvPr id="178" name="已粘贴的影片.gif" descr="已粘贴的影片.g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57129" y="745346"/>
            <a:ext cx="7988207" cy="79882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结构设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结构设计</a:t>
            </a:r>
          </a:p>
        </p:txBody>
      </p:sp>
      <p:sp>
        <p:nvSpPr>
          <p:cNvPr id="181" name="token与AS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token与AST</a:t>
            </a:r>
          </a:p>
        </p:txBody>
      </p:sp>
      <p:sp>
        <p:nvSpPr>
          <p:cNvPr id="182" name="Token…"/>
          <p:cNvSpPr txBox="1"/>
          <p:nvPr>
            <p:ph type="body" idx="1"/>
          </p:nvPr>
        </p:nvSpPr>
        <p:spPr>
          <a:xfrm>
            <a:off x="1206499" y="4735741"/>
            <a:ext cx="21971001" cy="9605863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Token</a:t>
            </a:r>
          </a:p>
          <a:p>
            <a:pPr/>
            <a:r>
              <a:t>数据结构：{类别，属性值，位置}</a:t>
            </a:r>
          </a:p>
          <a:p>
            <a:pPr/>
            <a:r>
              <a:t>类别：关键字（program、begin…）、标识符与常量（ID、INT_CONST…记录对应属性值）、运算符（:=、&lt;&gt;…）、界符（;、, …）、错误（未闭合字符、未闭合注释、非法标识符、非法字符…发现后直接报错）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AST…"/>
          <p:cNvSpPr txBox="1"/>
          <p:nvPr>
            <p:ph type="body" idx="1"/>
          </p:nvPr>
        </p:nvSpPr>
        <p:spPr>
          <a:xfrm>
            <a:off x="1206500" y="1228467"/>
            <a:ext cx="21971000" cy="11639717"/>
          </a:xfrm>
          <a:prstGeom prst="rect">
            <a:avLst/>
          </a:prstGeom>
        </p:spPr>
        <p:txBody>
          <a:bodyPr/>
          <a:lstStyle/>
          <a:p>
            <a:pPr defTabSz="2145738">
              <a:lnSpc>
                <a:spcPct val="80000"/>
              </a:lnSpc>
              <a:spcBef>
                <a:spcPts val="0"/>
              </a:spcBef>
              <a:defRPr b="1" spc="-149" sz="7480"/>
            </a:pPr>
            <a:r>
              <a:t>AST</a:t>
            </a:r>
          </a:p>
          <a:p>
            <a:pPr defTabSz="726440">
              <a:spcBef>
                <a:spcPts val="1500"/>
              </a:spcBef>
              <a:defRPr spc="-48" sz="4840"/>
            </a:pPr>
            <a:r>
              <a:t>数据结构：</a:t>
            </a:r>
          </a:p>
          <a:p>
            <a:pPr defTabSz="726440">
              <a:spcBef>
                <a:spcPts val="1500"/>
              </a:spcBef>
              <a:defRPr spc="-48" sz="4840"/>
            </a:pPr>
            <a:r>
              <a:t>类别、位置、字面值、整数值、实数值、布尔值、子节点。</a:t>
            </a:r>
          </a:p>
          <a:p>
            <a:pPr defTabSz="726440">
              <a:spcBef>
                <a:spcPts val="1500"/>
              </a:spcBef>
              <a:defRPr spc="-48" sz="4840"/>
            </a:pPr>
            <a:r>
              <a:t>节点类别：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程序与块（程序整体骨架）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声明与标识（identifier、identifier_list…用于符号表插入）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类型（基本类型、数组类型、区间或多区间）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子程序（约定孩子0为头部，孩子1为函数体）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语句（语句组合、复合语句、调用、赋值、分支、循环、读写）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表达式与引用（变量引用、运算、数值）</a:t>
            </a:r>
          </a:p>
          <a:p>
            <a:pPr marL="614680" indent="-614680" defTabSz="726440">
              <a:spcBef>
                <a:spcPts val="1500"/>
              </a:spcBef>
              <a:buSzPct val="123000"/>
              <a:buChar char="•"/>
              <a:defRPr spc="-48" sz="4840"/>
            </a:pPr>
            <a:r>
              <a:t>列表节点（属于以上类别，用于组织同类子节点）</a:t>
            </a:r>
          </a:p>
        </p:txBody>
      </p:sp>
      <p:pic>
        <p:nvPicPr>
          <p:cNvPr id="185" name="截屏2026-03-24 10.30.12.png" descr="截屏2026-03-24 10.30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09762" y="779739"/>
            <a:ext cx="6256186" cy="40856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AST构造举例…"/>
          <p:cNvSpPr txBox="1"/>
          <p:nvPr>
            <p:ph type="body" idx="1"/>
          </p:nvPr>
        </p:nvSpPr>
        <p:spPr>
          <a:xfrm>
            <a:off x="1206500" y="1246628"/>
            <a:ext cx="21971001" cy="11222744"/>
          </a:xfrm>
          <a:prstGeom prst="rect">
            <a:avLst/>
          </a:prstGeom>
        </p:spPr>
        <p:txBody>
          <a:bodyPr/>
          <a:lstStyle/>
          <a:p>
            <a:pPr defTabSz="2438338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AST构造举例</a:t>
            </a:r>
          </a:p>
          <a:p>
            <a:pPr/>
          </a:p>
          <a:p>
            <a:pPr/>
            <a:r>
              <a:t>program test;</a:t>
            </a:r>
          </a:p>
          <a:p>
            <a:pPr/>
            <a:r>
              <a:t>var x, y: integer;</a:t>
            </a:r>
          </a:p>
          <a:p>
            <a:pPr/>
            <a:r>
              <a:t>begin</a:t>
            </a:r>
          </a:p>
          <a:p>
            <a:pPr/>
            <a:r>
              <a:t>    x := y + 1;</a:t>
            </a:r>
          </a:p>
          <a:p>
            <a:pPr/>
            <a:r>
              <a:t>end.</a:t>
            </a:r>
          </a:p>
        </p:txBody>
      </p:sp>
      <p:pic>
        <p:nvPicPr>
          <p:cNvPr id="188" name="AST.drawio.png" descr="AST.drawi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7699" y="367214"/>
            <a:ext cx="14983711" cy="126045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分工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分工</a:t>
            </a:r>
          </a:p>
        </p:txBody>
      </p:sp>
      <p:sp>
        <p:nvSpPr>
          <p:cNvPr id="191" name="议程副标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将工程分为两阶段：…"/>
          <p:cNvSpPr txBox="1"/>
          <p:nvPr>
            <p:ph type="body" sz="half" idx="1"/>
          </p:nvPr>
        </p:nvSpPr>
        <p:spPr>
          <a:xfrm>
            <a:off x="1206499" y="4248504"/>
            <a:ext cx="11186050" cy="8256012"/>
          </a:xfrm>
          <a:prstGeom prst="rect">
            <a:avLst/>
          </a:prstGeom>
        </p:spPr>
        <p:txBody>
          <a:bodyPr/>
          <a:lstStyle/>
          <a:p>
            <a:pPr defTabSz="792479">
              <a:spcBef>
                <a:spcPts val="1700"/>
              </a:spcBef>
              <a:defRPr spc="-52" sz="5280"/>
            </a:pPr>
            <a:r>
              <a:t>将工程分为两阶段：</a:t>
            </a:r>
          </a:p>
          <a:p>
            <a:pPr defTabSz="792479">
              <a:spcBef>
                <a:spcPts val="1700"/>
              </a:spcBef>
              <a:defRPr spc="-52" sz="5280"/>
            </a:pPr>
            <a:r>
              <a:t>第一阶段：词法分析，语法分析模块的设计与编写，实现从源语言至AST。</a:t>
            </a:r>
          </a:p>
          <a:p>
            <a:pPr marL="670559" indent="-670559" defTabSz="792479">
              <a:spcBef>
                <a:spcPts val="1700"/>
              </a:spcBef>
              <a:buSzPct val="123000"/>
              <a:buChar char="•"/>
              <a:defRPr spc="-52" sz="5280"/>
            </a:pPr>
            <a:r>
              <a:t>词法分析——赵诗雨 胡曙胭</a:t>
            </a:r>
          </a:p>
          <a:p>
            <a:pPr marL="670559" indent="-670559" defTabSz="792479">
              <a:spcBef>
                <a:spcPts val="1700"/>
              </a:spcBef>
              <a:buSzPct val="123000"/>
              <a:buChar char="•"/>
              <a:defRPr spc="-52" sz="5280"/>
            </a:pPr>
            <a:r>
              <a:t>语法分析——袁炜途 梁益铭 刘宇轩</a:t>
            </a:r>
          </a:p>
          <a:p>
            <a:pPr marL="670559" indent="-670559" defTabSz="792479">
              <a:spcBef>
                <a:spcPts val="1700"/>
              </a:spcBef>
              <a:buSzPct val="123000"/>
              <a:buChar char="•"/>
              <a:defRPr spc="-52" sz="5280"/>
            </a:pPr>
            <a:r>
              <a:t>测试——金培功</a:t>
            </a:r>
          </a:p>
        </p:txBody>
      </p:sp>
      <p:sp>
        <p:nvSpPr>
          <p:cNvPr id="193" name="第二阶段：根据设计的AST结构，设计并实现语义分析与目标代码生成。…"/>
          <p:cNvSpPr txBox="1"/>
          <p:nvPr/>
        </p:nvSpPr>
        <p:spPr>
          <a:xfrm>
            <a:off x="12667958" y="5404321"/>
            <a:ext cx="11186050" cy="825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825500">
              <a:spcBef>
                <a:spcPts val="1800"/>
              </a:spcBef>
              <a:defRPr spc="-55" sz="5500"/>
            </a:pPr>
            <a:r>
              <a:t>第二阶段：根据设计的AST结构，设计并实现语义分析与目标代码生成。</a:t>
            </a:r>
          </a:p>
          <a:p>
            <a:pPr marL="698500" indent="-698500" defTabSz="825500">
              <a:spcBef>
                <a:spcPts val="1800"/>
              </a:spcBef>
              <a:buSzPct val="123000"/>
              <a:buChar char="•"/>
              <a:defRPr spc="-55" sz="5500"/>
            </a:pPr>
            <a:r>
              <a:t>分工——未定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进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进度</a:t>
            </a:r>
          </a:p>
        </p:txBody>
      </p:sp>
      <p:sp>
        <p:nvSpPr>
          <p:cNvPr id="196" name="幻灯片副标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7" name="汇报进度.drawio.png" descr="汇报进度.drawi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7823" y="3595385"/>
            <a:ext cx="20668354" cy="80924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感谢聆听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感谢聆听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